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con un ejemplo: una compra con IVA incluido no se liquida sobre el total. Mencionar los cuatro errores típicos de la derecha.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el flujo. Enfatizar que las tablas son datos, no código: se pueden actualizar y versionar. El motor bloquea cuando falta una tarifa municipal.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 salida real. Explicar por qué el caso SIMPLE y el autorretenedor no llevan retefuente. Mencionar que el motor bloquea en vez de inventar la tarifa de Barranquilla.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honestidad: el motor está listo para operar con validación humana; para producción faltan tablas firmadas y marcha blanca. Eso demuestra criterio.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3D9"/>
                </a:solidFill>
                <a:latin typeface="Arial"/>
              </a:rPr>
              <a:t>PORTAFOLIO CONTABLE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Liquidador de retenciones Colombia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461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D7E3EF"/>
                </a:solidFill>
                <a:latin typeface="Arial"/>
              </a:rPr>
              <a:t>16 casos, reglas explicables y asientos que cuadran.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370832"/>
            <a:ext cx="2743200" cy="98755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44988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16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9834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9CBE0"/>
                </a:solidFill>
                <a:latin typeface="Arial"/>
              </a:rPr>
              <a:t>CASOS DE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0168" y="4370832"/>
            <a:ext cx="2743200" cy="98755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44988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12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49834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9CBE0"/>
                </a:solidFill>
                <a:latin typeface="Arial"/>
              </a:rPr>
              <a:t>PRUEBAS DEL MOTOR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1968" y="4370832"/>
            <a:ext cx="2743200" cy="98755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44988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49834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9CBE0"/>
                </a:solidFill>
                <a:latin typeface="Arial"/>
              </a:rPr>
              <a:t>TARIFAS INVENTADAS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0644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D7E3EF"/>
                </a:solidFill>
                <a:latin typeface="Arial"/>
              </a:rPr>
              <a:t>Kelvis Samir Copete Córdoba · Tecnología en Análisis de Costos y Presupuestos · ITM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1722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FC3D9"/>
                </a:solidFill>
                <a:latin typeface="Arial"/>
              </a:rPr>
              <a:t>github.com/Samircopete12/liquidador-retenciones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01 /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Arial"/>
              </a:rPr>
              <a:t>Retener no es aplicar un porcentaje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12801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F6F7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F7F"/>
                </a:solidFill>
                <a:latin typeface="Arial"/>
              </a:rPr>
              <a:t>Kelvis Samir Copete Córdoba · Portafolio contable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5669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2A7F8F"/>
                </a:solidFill>
                <a:latin typeface="Arial"/>
              </a:rPr>
              <a:t>•  </a:t>
            </a:r>
            <a:r>
              <a:rPr sz="1500">
                <a:solidFill>
                  <a:srgbClr val="1F2933"/>
                </a:solidFill>
                <a:latin typeface="Arial"/>
              </a:rPr>
              <a:t>La base correcta no siempre es el total de la factura: el IVA incluido cambia el cálculo.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2A7F8F"/>
                </a:solidFill>
                <a:latin typeface="Arial"/>
              </a:rPr>
              <a:t>•  </a:t>
            </a:r>
            <a:r>
              <a:rPr sz="1500">
                <a:solidFill>
                  <a:srgbClr val="1F2933"/>
                </a:solidFill>
                <a:latin typeface="Arial"/>
              </a:rPr>
              <a:t>Hay mínimos: 2 UVT para servicios y 10 UVT para compras.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2A7F8F"/>
                </a:solidFill>
                <a:latin typeface="Arial"/>
              </a:rPr>
              <a:t>•  </a:t>
            </a:r>
            <a:r>
              <a:rPr sz="1500">
                <a:solidFill>
                  <a:srgbClr val="1F2933"/>
                </a:solidFill>
                <a:latin typeface="Arial"/>
              </a:rPr>
              <a:t>No todos los compradores son agentes de retefuente, reteIVA y reteICA.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2A7F8F"/>
                </a:solidFill>
                <a:latin typeface="Arial"/>
              </a:rPr>
              <a:t>•  </a:t>
            </a:r>
            <a:r>
              <a:rPr sz="1500">
                <a:solidFill>
                  <a:srgbClr val="1F2933"/>
                </a:solidFill>
                <a:latin typeface="Arial"/>
              </a:rPr>
              <a:t>Proveedor declarante, no declarante, SIMPLE y autorretenedor cambian la regla.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2A7F8F"/>
                </a:solidFill>
                <a:latin typeface="Arial"/>
              </a:rPr>
              <a:t>•  </a:t>
            </a:r>
            <a:r>
              <a:rPr sz="1500">
                <a:solidFill>
                  <a:srgbClr val="1F2933"/>
                </a:solidFill>
                <a:latin typeface="Arial"/>
              </a:rPr>
              <a:t>Una retención mal registrada contamina el asiento y el certificado.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2240280" cy="141732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8D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783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324F"/>
                </a:solidFill>
                <a:latin typeface="Arial"/>
              </a:rPr>
              <a:t>IVA incluido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1488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F7F"/>
                </a:solidFill>
                <a:latin typeface="Arial"/>
              </a:rPr>
              <a:t>Separar base e IVA antes de retener.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645920"/>
            <a:ext cx="2240280" cy="141732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8D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783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324F"/>
                </a:solidFill>
                <a:latin typeface="Arial"/>
              </a:rPr>
              <a:t>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1488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F7F"/>
                </a:solidFill>
                <a:latin typeface="Arial"/>
              </a:rPr>
              <a:t>No hay retefuente; revisar excepciones.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337560"/>
            <a:ext cx="2240280" cy="141732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8D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4747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324F"/>
                </a:solidFill>
                <a:latin typeface="Arial"/>
              </a:rPr>
              <a:t>Autorretenedor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8404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F7F"/>
                </a:solidFill>
                <a:latin typeface="Arial"/>
              </a:rPr>
              <a:t>El proveedor se autorretiene.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337560"/>
            <a:ext cx="2240280" cy="141732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8D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34747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324F"/>
                </a:solidFill>
                <a:latin typeface="Arial"/>
              </a:rPr>
              <a:t>Pago parcial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8404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F7F"/>
                </a:solidFill>
                <a:latin typeface="Arial"/>
              </a:rPr>
              <a:t>Retener sobre lo pagado, no sobre el total.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749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F8F"/>
                </a:solidFill>
                <a:latin typeface="Arial"/>
              </a:rPr>
              <a:t>El motor no debe adivinar: si falta una regla, bloquea y pide revisión.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02 /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Arial"/>
              </a:rPr>
              <a:t>Un motor con reglas, no una calculadora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12801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F6F7F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F7F"/>
                </a:solidFill>
                <a:latin typeface="Arial"/>
              </a:rPr>
              <a:t>Kelvis Samir Copete Córdoba · Portafolio contable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57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324F"/>
                </a:solidFill>
                <a:latin typeface="Arial"/>
              </a:rPr>
              <a:t>Entrada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957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F7F"/>
                </a:solidFill>
                <a:latin typeface="Arial"/>
              </a:rPr>
              <a:t>Comprador, proveedor, operación y fecha.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05740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7F8F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164592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1783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REGLAS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057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324F"/>
                </a:solidFill>
                <a:latin typeface="Arial"/>
              </a:rPr>
              <a:t>Validación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3957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F7F"/>
                </a:solidFill>
                <a:latin typeface="Arial"/>
              </a:rPr>
              <a:t>Agentes, mínimos, concepto y vigencia.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205740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7F8F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64592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783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TABLAS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057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324F"/>
                </a:solidFill>
                <a:latin typeface="Arial"/>
              </a:rPr>
              <a:t>UVT y tarifas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3957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F7F"/>
                </a:solidFill>
                <a:latin typeface="Arial"/>
              </a:rPr>
              <a:t>Personalizables y versionadas.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205740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7F8F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164592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2" y="1783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SALIDA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2057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324F"/>
                </a:solidFill>
                <a:latin typeface="Arial"/>
              </a:rPr>
              <a:t>Evidencia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23957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F7F"/>
                </a:solidFill>
                <a:latin typeface="Arial"/>
              </a:rPr>
              <a:t>JSON/CSV, asientos, certificados y auditoría.</a:t>
            </a:r>
          </a:p>
        </p:txBody>
      </p:sp>
      <p:pic>
        <p:nvPicPr>
          <p:cNvPr id="28" name="Picture 27" descr="02-retenciones-ca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372" y="3246120"/>
            <a:ext cx="3079630" cy="23317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8368" y="5623559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F6F7F"/>
                </a:solidFill>
                <a:latin typeface="Arial"/>
              </a:rPr>
              <a:t>16 casos de control: servicios, honorarios, arriendo y compras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03 /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Arial"/>
              </a:rPr>
              <a:t>16 casos, 12 pruebas y cero atajos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12801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F6F7F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F7F"/>
                </a:solidFill>
                <a:latin typeface="Arial"/>
              </a:rPr>
              <a:t>Kelvis Samir Copete Córdoba · Portafolio contable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00200"/>
            <a:ext cx="64008" cy="132588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6479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7A5A"/>
                </a:solidFill>
                <a:latin typeface="Arial"/>
              </a:rPr>
              <a:t>16/16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50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F6F7F"/>
                </a:solidFill>
                <a:latin typeface="Arial"/>
              </a:rPr>
              <a:t>CHEQUEO EN CERO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6060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F7F"/>
                </a:solidFill>
                <a:latin typeface="Arial"/>
              </a:rPr>
              <a:t>Total − retenciones − neto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6002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600200"/>
            <a:ext cx="64008" cy="1325880"/>
          </a:xfrm>
          <a:prstGeom prst="rect">
            <a:avLst/>
          </a:prstGeom>
          <a:solidFill>
            <a:srgbClr val="2A7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176479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A7F8F"/>
                </a:solidFill>
                <a:latin typeface="Arial"/>
              </a:rPr>
              <a:t>12/12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350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F6F7F"/>
                </a:solidFill>
                <a:latin typeface="Arial"/>
              </a:rPr>
              <a:t>PRUEBAS DEL MOTOR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26060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F7F"/>
                </a:solidFill>
                <a:latin typeface="Arial"/>
              </a:rPr>
              <a:t>Casos del diseño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16002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61888" y="1600200"/>
            <a:ext cx="64008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5" y="176479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5" y="2350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F6F7F"/>
                </a:solidFill>
                <a:latin typeface="Arial"/>
              </a:rPr>
              <a:t>CASOS SIN RETEFUENTE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5" y="26060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F7F"/>
                </a:solidFill>
                <a:latin typeface="Arial"/>
              </a:rPr>
              <a:t>Bajo mínimo, SIMPLE y autorretenedor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13648" y="16002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13648" y="1600200"/>
            <a:ext cx="64008" cy="1325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14816" y="176479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227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2350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F6F7F"/>
                </a:solidFill>
                <a:latin typeface="Arial"/>
              </a:rPr>
              <a:t>BLOQUEO CONTROLADO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6" y="26060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F7F"/>
                </a:solidFill>
                <a:latin typeface="Arial"/>
              </a:rPr>
              <a:t>Falta de tarifa municipal</a:t>
            </a:r>
          </a:p>
        </p:txBody>
      </p:sp>
      <p:pic>
        <p:nvPicPr>
          <p:cNvPr id="29" name="Picture 28" descr="03-retenciones-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7" y="3127248"/>
            <a:ext cx="480060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8368" y="591616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F6F7F"/>
                </a:solidFill>
                <a:latin typeface="Arial"/>
              </a:rPr>
              <a:t>Compra en Barranquilla: IVA, retefuente, reteIVA, reteICA y neto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04 / APRENDIZAJES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Arial"/>
              </a:rPr>
              <a:t>Listo para control humano, no para producción autónoma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12801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F6F7F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F7F"/>
                </a:solidFill>
                <a:latin typeface="Arial"/>
              </a:rPr>
              <a:t>Kelvis Samir Copete Córdoba · Portafolio contable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45920"/>
            <a:ext cx="3429000" cy="82296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28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7A5A"/>
                </a:solidFill>
                <a:latin typeface="Arial"/>
              </a:rPr>
              <a:t>YA ESTÁ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4028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A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Motor, 16 casos y 12 pruebas.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A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Asientos, certificados y auditoría.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A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Bloqueos y tablas versionadas.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4592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45920"/>
            <a:ext cx="3429000" cy="8229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1828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Arial"/>
              </a:rPr>
              <a:t>FALTA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24028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Firmar tablas oficiales con contador.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Probar ~20 facturas reales.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Marcha blanca de un 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64592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8" y="1645920"/>
            <a:ext cx="3429000" cy="82296"/>
          </a:xfrm>
          <a:prstGeom prst="rect">
            <a:avLst/>
          </a:prstGeom>
          <a:solidFill>
            <a:srgbClr val="2A7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828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F8F"/>
                </a:solidFill>
                <a:latin typeface="Arial"/>
              </a:rPr>
              <a:t>SIGUIENTE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4028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2A7F8F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Publicar y documentar.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2A7F8F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Video de 2 minutos.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2A7F8F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Actualizar la CV con el enlace.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0533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7F8F"/>
                </a:solidFill>
                <a:latin typeface="Arial"/>
              </a:rPr>
              <a:t>github.com/Samircopete12/liquidador-retenciones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